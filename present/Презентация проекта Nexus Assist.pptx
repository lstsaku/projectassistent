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B5D2D-734E-4B15-AEAD-2CCCCAA168C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D9B8E-B296-455C-8733-6E5E705A5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2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D9B8E-B296-455C-8733-6E5E705A5B1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618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04413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486400"/>
            <a:ext cx="5295900" cy="838200"/>
          </a:xfrm>
          <a:prstGeom prst="roundRect">
            <a:avLst>
              <a:gd name="adj" fmla="val 13636"/>
            </a:avLst>
          </a:prstGeom>
          <a:solidFill>
            <a:srgbClr val="131C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5486400"/>
            <a:ext cx="5295900" cy="838200"/>
          </a:xfrm>
          <a:prstGeom prst="roundRect">
            <a:avLst>
              <a:gd name="adj" fmla="val 13636"/>
            </a:avLst>
          </a:prstGeom>
          <a:solidFill>
            <a:srgbClr val="131C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569595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69595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5810250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912" y="5810250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АВТОНОМНЫЙ ИНТЕЛЛЕКТУАЛЬНЫЙ АССИСТЕНТ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95350"/>
            <a:ext cx="97012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Nexus Assist: Локальный ИИ для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24980"/>
            <a:ext cx="7524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Полный суверенитет данных, офлайн-распознавание речи через Whisper и доступность Zero-Click на Python 3.12.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5425" y="5686425"/>
            <a:ext cx="34081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ВЫПОЛНИЛ РАБОТУ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425" y="5895975"/>
            <a:ext cx="337553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ru-RU" sz="1350" b="1" i="0" u="none" dirty="0">
                <a:solidFill>
                  <a:srgbClr val="F8FAFC"/>
                </a:solidFill>
                <a:latin typeface="Plus Jakarta Sans"/>
              </a:rPr>
              <a:t>Тишин Александр Владимирович 420 Группа</a:t>
            </a:r>
            <a:endParaRPr sz="135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19925" y="5686425"/>
            <a:ext cx="356182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НАУЧНЫЙ РУКОВОДИТЕЛЬ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981700"/>
            <a:ext cx="10820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762250"/>
            <a:ext cx="3454449" cy="2011560"/>
          </a:xfrm>
          <a:prstGeom prst="roundRect">
            <a:avLst>
              <a:gd name="adj" fmla="val 7576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849" y="2762250"/>
            <a:ext cx="3454449" cy="2011560"/>
          </a:xfrm>
          <a:prstGeom prst="roundRect">
            <a:avLst>
              <a:gd name="adj" fmla="val 7576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762250"/>
            <a:ext cx="3454449" cy="2011560"/>
          </a:xfrm>
          <a:prstGeom prst="roundRect">
            <a:avLst>
              <a:gd name="adj" fmla="val 7576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981700"/>
            <a:ext cx="108204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076575"/>
            <a:ext cx="2901999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076575"/>
            <a:ext cx="2901999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076575"/>
            <a:ext cx="2901999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11D48"/>
                </a:solidFill>
                <a:latin typeface="Plus Jakarta Sans"/>
              </a:rPr>
              <a:t>ВЫЗОВЫ СОВРЕМЕННЫХ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800100"/>
            <a:ext cx="115062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Барьеры облачных помощников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2576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Ключевые риски централизованных сервисов при повседневном взаимодействии с ПК.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43625"/>
            <a:ext cx="350155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Nexus Assist • Архитектурное обоснование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8971" y="6143625"/>
            <a:ext cx="26465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Проблема ➔ Автономное решение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571875"/>
            <a:ext cx="380887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F1239"/>
                </a:solidFill>
                <a:latin typeface="Plus Jakarta Sans"/>
              </a:rPr>
              <a:t>Зависимость от сети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962400"/>
            <a:ext cx="2997249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BE123C"/>
                </a:solidFill>
                <a:latin typeface="Plus Jakarta Sans"/>
              </a:rPr>
              <a:t>Полный отказ сервисов без стабильного интернет-соединения.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074" y="3571875"/>
            <a:ext cx="380887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F1239"/>
                </a:solidFill>
                <a:latin typeface="Plus Jakarta Sans"/>
              </a:rPr>
              <a:t>Потеря приватности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074" y="3962400"/>
            <a:ext cx="2997249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BE123C"/>
                </a:solidFill>
                <a:latin typeface="Plus Jakarta Sans"/>
              </a:rPr>
              <a:t>Передача конфиденциальных документов на внешние серверы.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124" y="3571875"/>
            <a:ext cx="380887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F1239"/>
                </a:solidFill>
                <a:latin typeface="Plus Jakarta Sans"/>
              </a:rPr>
              <a:t>Жесткий синтаксис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3962400"/>
            <a:ext cx="2997249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BE123C"/>
                </a:solidFill>
                <a:latin typeface="Plus Jakarta Sans"/>
              </a:rPr>
              <a:t>Неспособность классических систем адаптироваться к сленгу.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819775"/>
            <a:ext cx="10820400" cy="504825"/>
          </a:xfrm>
          <a:prstGeom prst="roundRect">
            <a:avLst>
              <a:gd name="adj" fmla="val 1886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524125"/>
            <a:ext cx="2319337" cy="2325737"/>
          </a:xfrm>
          <a:prstGeom prst="roundRect">
            <a:avLst>
              <a:gd name="adj" fmla="val 57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19487" y="2630834"/>
            <a:ext cx="2319337" cy="2112466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53175" y="2630834"/>
            <a:ext cx="2319337" cy="2112466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86862" y="2630834"/>
            <a:ext cx="2319337" cy="2112466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3582292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358229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912" y="358229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9769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78130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512" y="2888009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888009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887" y="2888009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" y="2895600"/>
            <a:ext cx="1428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3812" y="3002309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3687" y="3002309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1187" y="3002309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СКВОЗНОЙ ЛОКАЛЬНЫЙ ЦИКЛ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00100"/>
            <a:ext cx="115062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Архитектурный пайплайн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32576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Последовательность обработки речевого сигнала до системного действия.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5972175"/>
            <a:ext cx="86428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Сквозная задержка от окончания фразы до системного вызова составляет менее 1 секунды.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3314700"/>
            <a:ext cx="239910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ШАГ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3600450"/>
            <a:ext cx="25190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Слушатель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952875"/>
            <a:ext cx="2014537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Офлайн-транскрибация аудиопотока моделью Whisper.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9512" y="3421409"/>
            <a:ext cx="239910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ШАГ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9512" y="3707159"/>
            <a:ext cx="25190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Парсинг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9512" y="4059584"/>
            <a:ext cx="20145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Нечеткое сопоставление фраз через TheFuzz.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3421409"/>
            <a:ext cx="239910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ШАГ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3707159"/>
            <a:ext cx="25190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Маршрут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0" y="4059584"/>
            <a:ext cx="20145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Селекция модуля: запуск ПО, RAG или клик OCR.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6887" y="3421409"/>
            <a:ext cx="239910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ШАГ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6887" y="3707159"/>
            <a:ext cx="25190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Выполнение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6887" y="4059584"/>
            <a:ext cx="20145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Прямое исполнение в операционной системе.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819775"/>
            <a:ext cx="10820400" cy="5048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504628"/>
            <a:ext cx="5314950" cy="1091951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04628"/>
            <a:ext cx="5314950" cy="1091951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787080"/>
            <a:ext cx="5314950" cy="1082426"/>
          </a:xfrm>
          <a:prstGeom prst="roundRect">
            <a:avLst>
              <a:gd name="adj" fmla="val 123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787080"/>
            <a:ext cx="5314950" cy="1082426"/>
          </a:xfrm>
          <a:prstGeom prst="roundRect">
            <a:avLst>
              <a:gd name="adj" fmla="val 123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819775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780853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780853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058542"/>
            <a:ext cx="1333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4058542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ТЕХНОЛОГИЧЕСКИЙ СТЕК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800100"/>
            <a:ext cx="115062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Ключевые возможности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2576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Инженерные решения для автономной и комфортной работы на ПК.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72175"/>
            <a:ext cx="11277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Аппаратный суверенитет: Весь кэш и модели изолированы на диске F:, защищая диск C: от мусора.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104703"/>
            <a:ext cx="5953125" cy="2347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Высокая устойчивость к акцентам и фоновому шуму кулеров.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3104703"/>
            <a:ext cx="5724525" cy="2347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Автоматическая фиксация синонимов в apps_config.json.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377630"/>
            <a:ext cx="5953125" cy="2347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Точное наведение курсора по тексту на экране.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4377630"/>
            <a:ext cx="5724525" cy="2347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Быстрый поиск ответов по личной текстовой базе знаний.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5875" y="2761803"/>
            <a:ext cx="165489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Слух Whisper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2761803"/>
            <a:ext cx="209069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Обучение сленгу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9675" y="4044255"/>
            <a:ext cx="192524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Zero-Click 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4044255"/>
            <a:ext cx="12901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Local 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72642"/>
            <a:ext cx="10820400" cy="2562225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95325" y="2582167"/>
          <a:ext cx="10801349" cy="2543175"/>
        </p:xfrm>
        <a:graphic>
          <a:graphicData uri="http://schemas.openxmlformats.org/drawingml/2006/table">
            <a:tbl>
              <a:tblPr/>
              <a:tblGrid>
                <a:gridCol w="29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Ввод (Голос)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Исполнительный модуль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Задержка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Системный результат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«открой телегу»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AppFinder (TheFuzz)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0.4 сек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16A34A"/>
                          </a:solidFill>
                          <a:latin typeface="Plus Jakarta Sans"/>
                        </a:rPr>
                        <a:t>Окно</a:t>
                      </a:r>
                      <a:r>
                        <a:rPr sz="1200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 Telegram </a:t>
                      </a:r>
                      <a:r>
                        <a:rPr sz="1200" b="1" i="0" u="none" dirty="0" err="1">
                          <a:solidFill>
                            <a:srgbClr val="16A34A"/>
                          </a:solidFill>
                          <a:latin typeface="Plus Jakarta Sans"/>
                        </a:rPr>
                        <a:t>активно</a:t>
                      </a:r>
                      <a:endParaRPr sz="1200" b="1" i="0" u="none" dirty="0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«где лежат веса»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Local RAG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0.2 сек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Цитата выведена в консоль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«запусти дискомфорт»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AppFinder (Обучение)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0.5 сек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Синоним добавлен в конфиг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«наведи на Сохранить»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Vision OCR (Tesseract)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0.8 сек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16A34A"/>
                          </a:solidFill>
                          <a:latin typeface="Plus Jakarta Sans"/>
                        </a:rPr>
                        <a:t>Клик</a:t>
                      </a:r>
                      <a:r>
                        <a:rPr sz="1200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: X: 1140, Y: 820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ТЕСТИРОВАНИЕ В СИСТЕМЕ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0100"/>
            <a:ext cx="115062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Журнал исполнения команд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76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Фиксация точности и скорости выполнения инструкций в ОС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53150"/>
            <a:ext cx="46679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Все сценарии протестированы в локальной среде Windows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6139" y="6153150"/>
            <a:ext cx="2387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100% Успешное выполнение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991225"/>
            <a:ext cx="108204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59299" y="3106042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23324" y="3106042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991225"/>
            <a:ext cx="108204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ЭФФЕКТИВНОСТЬ РЕСУРСОВ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0100"/>
            <a:ext cx="115062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Вычислительные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76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Ключевые показатели автономности и бережного отношения к системе.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53150"/>
            <a:ext cx="3469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Nexus Assist • Аппаратная эффективность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7748" y="6153150"/>
            <a:ext cx="425425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Проверено на конфигурации с CPU Intel Core / AMD Ryzen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237" y="3020317"/>
            <a:ext cx="3865624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>
                <a:solidFill>
                  <a:srgbClr val="0284C7"/>
                </a:solidFill>
                <a:latin typeface="Plus Jakarta San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237" y="3972817"/>
            <a:ext cx="386562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Автономность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237" y="4325242"/>
            <a:ext cx="38656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Ноль сетевых запросов наружу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3262" y="3020317"/>
            <a:ext cx="3865624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>
                <a:solidFill>
                  <a:srgbClr val="16A34A"/>
                </a:solidFill>
                <a:latin typeface="Plus Jakarta Sans"/>
              </a:rPr>
              <a:t>0 КБ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3262" y="3972817"/>
            <a:ext cx="386562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Мусора на диске C: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3262" y="4325242"/>
            <a:ext cx="38656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Изоляция на выделенном диске F: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7286" y="3020317"/>
            <a:ext cx="3865624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>
                <a:solidFill>
                  <a:srgbClr val="0F172A"/>
                </a:solidFill>
                <a:latin typeface="Plus Jakarta Sans"/>
              </a:rPr>
              <a:t>&lt; 1 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7286" y="3972817"/>
            <a:ext cx="386562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Отклик на команду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7286" y="4325242"/>
            <a:ext cx="38656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Молниеносный локальный CPU инференс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744860"/>
            <a:ext cx="5257800" cy="4217789"/>
          </a:xfrm>
          <a:prstGeom prst="roundRect">
            <a:avLst>
              <a:gd name="adj" fmla="val 316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744860"/>
            <a:ext cx="5257800" cy="4217789"/>
          </a:xfrm>
          <a:prstGeom prst="roundRect">
            <a:avLst>
              <a:gd name="adj" fmla="val 3161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078235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078235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МАСШТАБИРОВАНИЕ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0100"/>
            <a:ext cx="115062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Стратегический роадмап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76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Преодоление барьеров текущего прототипа и переход к версии v2.0.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53150"/>
            <a:ext cx="2059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Nexus Assist • 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1902" y="6153150"/>
            <a:ext cx="435009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Репозиторий проекта: github.com/lstsaku/ProjectAssistent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459235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Инференс Whisper ограничен ресурсами центрального процессора (FP32).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097410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Ограничение среды: поддержка только платформы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735585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Поиск RAG базируется на подстроках без смысловых векторных эмбеддингов.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459235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CUDA-ускорение: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Перенос инференса Whisper на тензорные ядра GPU.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097410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Векторный RAG: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Внедрение библиотеки FAISS для глубокого семантического поиска.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735585"/>
            <a:ext cx="4724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Динамическое зрение: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Распознавание сложных интерактивных UI элементов.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4925" y="2059185"/>
            <a:ext cx="268549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F1239"/>
                </a:solidFill>
                <a:latin typeface="Plus Jakarta Sans"/>
              </a:rPr>
              <a:t>Текущие ограничения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2059185"/>
            <a:ext cx="285348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Plus Jakarta Sans"/>
              </a:rPr>
              <a:t>Планы развития (v2.0)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2696468"/>
            <a:ext cx="4572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52887" y="3029843"/>
            <a:ext cx="4086225" cy="552450"/>
          </a:xfrm>
          <a:prstGeom prst="roundRect">
            <a:avLst>
              <a:gd name="adj" fmla="val 20689"/>
            </a:avLst>
          </a:prstGeom>
          <a:solidFill>
            <a:srgbClr val="131C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353467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75" y="486817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212" y="3191768"/>
            <a:ext cx="21907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20728" y="1077367"/>
            <a:ext cx="4350543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Nexus Assist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1843088"/>
            <a:ext cx="8096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Персональный цифровой ассистент с полным контролем приватности и аппаратным суверенитетом.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2201" y="3848993"/>
            <a:ext cx="66075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Plus Jakarta Sans"/>
              </a:rPr>
              <a:t>Спасибо за внимание! Готов ответить на ваши вопросы.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925" y="3196531"/>
            <a:ext cx="3857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github.com/</a:t>
            </a: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lstsaku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/</a:t>
            </a: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ProjectAssistent</a:t>
            </a:r>
            <a:endParaRPr sz="1350" b="1" i="0" u="none" dirty="0">
              <a:solidFill>
                <a:srgbClr val="F8FAFC"/>
              </a:solidFill>
              <a:latin typeface="Plus Jakart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2903D6-2238-AA76-2229-AF67FBACE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047" y="4182368"/>
            <a:ext cx="2621355" cy="2621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517</Words>
  <Application>Microsoft Office PowerPoint</Application>
  <PresentationFormat>Widescreen</PresentationFormat>
  <Paragraphs>102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Aptos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why w1nG</cp:lastModifiedBy>
  <cp:revision>2</cp:revision>
  <dcterms:created xsi:type="dcterms:W3CDTF">2013-01-27T09:14:16Z</dcterms:created>
  <dcterms:modified xsi:type="dcterms:W3CDTF">2026-09-25T05:58:22Z</dcterms:modified>
  <cp:category/>
</cp:coreProperties>
</file>